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chatbot.getmindpal.com/nisa-next-intelligent-student-assistant-2l1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workflow.getmindpal.com/nisa--next-intelligent-student-assistant-1773311253147?theme=dark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chatbot.getmindpal.com/nisa-next-intelligent-student-assistant-2l1" TargetMode="External"/><Relationship Id="rId2" Type="http://schemas.openxmlformats.org/officeDocument/2006/relationships/hyperlink" Target="https://workflow.getmindpal.com/nisa--next-intelligent-student-assistant-1773311253147?theme=dark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8288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7432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6576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5720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9144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8288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27432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36576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45720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800" y="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28800" y="9144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28800" y="18288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28800" y="27432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28800" y="36576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28800" y="45720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0" y="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0" y="9144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0" y="18288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0" y="27432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0" y="36576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0" y="45720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0" y="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0" y="9144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0" y="18288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0" y="27432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0" y="36576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0" y="45720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0" y="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0" y="9144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0" y="18288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0" y="27432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0" y="36576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0" y="45720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86400" y="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86400" y="9144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486400" y="18288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486400" y="27432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86400" y="36576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486400" y="45720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00800" y="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00800" y="9144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00800" y="18288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00800" y="27432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400800" y="36576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400800" y="45720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315200" y="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315200" y="9144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315200" y="18288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315200" y="27432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315200" y="36576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315200" y="45720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229600" y="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229600" y="9144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229600" y="18288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229600" y="27432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229600" y="36576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229600" y="45720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029200" y="-1371600"/>
            <a:ext cx="5486400" cy="5486400"/>
          </a:xfrm>
          <a:prstGeom prst="ellipse">
            <a:avLst/>
          </a:prstGeom>
          <a:solidFill>
            <a:srgbClr val="00D4C8">
              <a:alpha val="10000"/>
            </a:srgbClr>
          </a:solidFill>
          <a:ln w="12700">
            <a:solidFill>
              <a:srgbClr val="00D4C8">
                <a:alpha val="10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943600" y="-457200"/>
            <a:ext cx="3657600" cy="3657600"/>
          </a:xfrm>
          <a:prstGeom prst="ellipse">
            <a:avLst/>
          </a:prstGeom>
          <a:solidFill>
            <a:srgbClr val="00B8FF">
              <a:alpha val="8000"/>
            </a:srgbClr>
          </a:solidFill>
          <a:ln w="12700">
            <a:solidFill>
              <a:srgbClr val="00B8FF">
                <a:alpha val="8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57200" y="731520"/>
            <a:ext cx="640080" cy="640080"/>
          </a:xfrm>
          <a:prstGeom prst="rect">
            <a:avLst/>
          </a:prstGeom>
          <a:solidFill>
            <a:srgbClr val="00D4C8">
              <a:alpha val="20000"/>
            </a:srgbClr>
          </a:solidFill>
          <a:ln w="19050">
            <a:solidFill>
              <a:srgbClr val="00D4C8">
                <a:alpha val="8000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57200" y="713232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F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200" dirty="0"/>
          </a:p>
        </p:txBody>
      </p:sp>
      <p:sp>
        <p:nvSpPr>
          <p:cNvPr id="66" name="Shape 64"/>
          <p:cNvSpPr/>
          <p:nvPr/>
        </p:nvSpPr>
        <p:spPr>
          <a:xfrm>
            <a:off x="457200" y="1600200"/>
            <a:ext cx="2011680" cy="274320"/>
          </a:xfrm>
          <a:prstGeom prst="rect">
            <a:avLst/>
          </a:prstGeom>
          <a:solidFill>
            <a:srgbClr val="00D4C8">
              <a:alpha val="18000"/>
            </a:srgbClr>
          </a:solidFill>
          <a:ln w="7620">
            <a:solidFill>
              <a:srgbClr val="00D4C8">
                <a:alpha val="45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66928" y="1682496"/>
            <a:ext cx="91440" cy="91440"/>
          </a:xfrm>
          <a:prstGeom prst="ellipse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57200" y="16002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spc="300" kern="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AI SYSTEM  •  LIVE</a:t>
            </a:r>
            <a:endParaRPr lang="en-US" sz="650" dirty="0"/>
          </a:p>
        </p:txBody>
      </p:sp>
      <p:sp>
        <p:nvSpPr>
          <p:cNvPr id="69" name="Text 67"/>
          <p:cNvSpPr/>
          <p:nvPr/>
        </p:nvSpPr>
        <p:spPr>
          <a:xfrm>
            <a:off x="457200" y="192024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spc="-100" kern="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NISA AI Agent</a:t>
            </a:r>
            <a:endParaRPr lang="en-US" sz="5200" dirty="0"/>
          </a:p>
        </p:txBody>
      </p:sp>
      <p:sp>
        <p:nvSpPr>
          <p:cNvPr id="70" name="Text 68"/>
          <p:cNvSpPr/>
          <p:nvPr/>
        </p:nvSpPr>
        <p:spPr>
          <a:xfrm>
            <a:off x="457200" y="28803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Intelligent Student Assistant</a:t>
            </a:r>
            <a:endParaRPr lang="en-US" sz="1800" dirty="0"/>
          </a:p>
        </p:txBody>
      </p:sp>
      <p:sp>
        <p:nvSpPr>
          <p:cNvPr id="71" name="Text 69"/>
          <p:cNvSpPr/>
          <p:nvPr/>
        </p:nvSpPr>
        <p:spPr>
          <a:xfrm>
            <a:off x="457200" y="3401568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multi-agent system to discover opportunities,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your professional profile &amp; automate academic tasks.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457200" y="4206240"/>
            <a:ext cx="3200400" cy="256032"/>
          </a:xfrm>
          <a:prstGeom prst="rect">
            <a:avLst/>
          </a:prstGeom>
          <a:solidFill>
            <a:srgbClr val="00D4C8">
              <a:alpha val="14000"/>
            </a:srgbClr>
          </a:solidFill>
          <a:ln w="6350">
            <a:solidFill>
              <a:srgbClr val="00D4C8">
                <a:alpha val="50000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57200" y="42062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chatbot.getmindpal.com/nisa-next-intelligent-student-assistant-2l1</a:t>
            </a:r>
            <a:endParaRPr lang="en-US" sz="600" dirty="0"/>
          </a:p>
        </p:txBody>
      </p:sp>
      <p:sp>
        <p:nvSpPr>
          <p:cNvPr id="74" name="Shape 72"/>
          <p:cNvSpPr/>
          <p:nvPr/>
        </p:nvSpPr>
        <p:spPr>
          <a:xfrm>
            <a:off x="3749040" y="4206240"/>
            <a:ext cx="2926080" cy="256032"/>
          </a:xfrm>
          <a:prstGeom prst="rect">
            <a:avLst/>
          </a:prstGeom>
          <a:solidFill>
            <a:srgbClr val="00B8FF">
              <a:alpha val="14000"/>
            </a:srgbClr>
          </a:solidFill>
          <a:ln w="6350">
            <a:solidFill>
              <a:srgbClr val="00B8FF">
                <a:alpha val="50000"/>
              </a:srgbClr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749040" y="420624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00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workflow.getmindpal.com/nisa--next-intelligent-student-assistant</a:t>
            </a:r>
            <a:endParaRPr lang="en-US" sz="600" dirty="0"/>
          </a:p>
        </p:txBody>
      </p:sp>
      <p:sp>
        <p:nvSpPr>
          <p:cNvPr id="76" name="Shape 74"/>
          <p:cNvSpPr/>
          <p:nvPr/>
        </p:nvSpPr>
        <p:spPr>
          <a:xfrm>
            <a:off x="6675120" y="640080"/>
            <a:ext cx="2194560" cy="3931920"/>
          </a:xfrm>
          <a:prstGeom prst="rect">
            <a:avLst/>
          </a:prstGeom>
          <a:solidFill>
            <a:srgbClr val="0F1E35">
              <a:alpha val="80000"/>
            </a:srgbClr>
          </a:solidFill>
          <a:ln w="10160">
            <a:solidFill>
              <a:srgbClr val="00D4C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77" name="Text 75"/>
          <p:cNvSpPr/>
          <p:nvPr/>
        </p:nvSpPr>
        <p:spPr>
          <a:xfrm>
            <a:off x="6675120" y="65836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agent-system.active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6675120" y="914400"/>
            <a:ext cx="2194560" cy="9144"/>
          </a:xfrm>
          <a:prstGeom prst="rect">
            <a:avLst/>
          </a:prstGeom>
          <a:solidFill>
            <a:srgbClr val="00D4C8">
              <a:alpha val="30000"/>
            </a:srgbClr>
          </a:solidFill>
          <a:ln w="12700">
            <a:solidFill>
              <a:srgbClr val="00D4C8">
                <a:alpha val="30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784848" y="1024128"/>
            <a:ext cx="1975104" cy="457200"/>
          </a:xfrm>
          <a:prstGeom prst="rect">
            <a:avLst/>
          </a:prstGeom>
          <a:solidFill>
            <a:srgbClr val="00D4C8">
              <a:alpha val="10000"/>
            </a:srgbClr>
          </a:solidFill>
          <a:ln w="6350">
            <a:solidFill>
              <a:srgbClr val="00D4C8">
                <a:alpha val="35000"/>
              </a:srgbClr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784848" y="1024128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7150608" y="104241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Collector</a:t>
            </a:r>
            <a:endParaRPr lang="en-US" sz="750" dirty="0"/>
          </a:p>
        </p:txBody>
      </p:sp>
      <p:sp>
        <p:nvSpPr>
          <p:cNvPr id="82" name="Text 80"/>
          <p:cNvSpPr/>
          <p:nvPr/>
        </p:nvSpPr>
        <p:spPr>
          <a:xfrm>
            <a:off x="7150608" y="126187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RUNNING</a:t>
            </a:r>
            <a:endParaRPr lang="en-US" sz="600" dirty="0"/>
          </a:p>
        </p:txBody>
      </p:sp>
      <p:sp>
        <p:nvSpPr>
          <p:cNvPr id="83" name="Shape 81"/>
          <p:cNvSpPr/>
          <p:nvPr/>
        </p:nvSpPr>
        <p:spPr>
          <a:xfrm>
            <a:off x="6784848" y="1591056"/>
            <a:ext cx="1975104" cy="457200"/>
          </a:xfrm>
          <a:prstGeom prst="rect">
            <a:avLst/>
          </a:prstGeom>
          <a:solidFill>
            <a:srgbClr val="00D4C8">
              <a:alpha val="10000"/>
            </a:srgbClr>
          </a:solidFill>
          <a:ln w="6350">
            <a:solidFill>
              <a:srgbClr val="00D4C8">
                <a:alpha val="35000"/>
              </a:srgbClr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784848" y="1591056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7150608" y="160934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Scout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7150608" y="182880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ACTIVE</a:t>
            </a:r>
            <a:endParaRPr lang="en-US" sz="600" dirty="0"/>
          </a:p>
        </p:txBody>
      </p:sp>
      <p:sp>
        <p:nvSpPr>
          <p:cNvPr id="87" name="Shape 85"/>
          <p:cNvSpPr/>
          <p:nvPr/>
        </p:nvSpPr>
        <p:spPr>
          <a:xfrm>
            <a:off x="6784848" y="2157984"/>
            <a:ext cx="1975104" cy="457200"/>
          </a:xfrm>
          <a:prstGeom prst="rect">
            <a:avLst/>
          </a:prstGeom>
          <a:solidFill>
            <a:srgbClr val="00D4C8">
              <a:alpha val="10000"/>
            </a:srgbClr>
          </a:solidFill>
          <a:ln w="6350">
            <a:solidFill>
              <a:srgbClr val="00D4C8">
                <a:alpha val="35000"/>
              </a:srgbClr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784848" y="2157984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7150608" y="217627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Evaluator</a:t>
            </a:r>
            <a:endParaRPr lang="en-US" sz="750" dirty="0"/>
          </a:p>
        </p:txBody>
      </p:sp>
      <p:sp>
        <p:nvSpPr>
          <p:cNvPr id="90" name="Text 88"/>
          <p:cNvSpPr/>
          <p:nvPr/>
        </p:nvSpPr>
        <p:spPr>
          <a:xfrm>
            <a:off x="7150608" y="239572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ACTIVE</a:t>
            </a:r>
            <a:endParaRPr lang="en-US" sz="600" dirty="0"/>
          </a:p>
        </p:txBody>
      </p:sp>
      <p:sp>
        <p:nvSpPr>
          <p:cNvPr id="91" name="Shape 89"/>
          <p:cNvSpPr/>
          <p:nvPr/>
        </p:nvSpPr>
        <p:spPr>
          <a:xfrm>
            <a:off x="6784848" y="2724912"/>
            <a:ext cx="1975104" cy="457200"/>
          </a:xfrm>
          <a:prstGeom prst="rect">
            <a:avLst/>
          </a:prstGeom>
          <a:solidFill>
            <a:srgbClr val="00D4C8">
              <a:alpha val="10000"/>
            </a:srgbClr>
          </a:solidFill>
          <a:ln w="6350">
            <a:solidFill>
              <a:srgbClr val="00D4C8">
                <a:alpha val="35000"/>
              </a:srgbClr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784848" y="2724912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7150608" y="27432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Generator</a:t>
            </a:r>
            <a:endParaRPr lang="en-US" sz="750" dirty="0"/>
          </a:p>
        </p:txBody>
      </p:sp>
      <p:sp>
        <p:nvSpPr>
          <p:cNvPr id="94" name="Text 92"/>
          <p:cNvSpPr/>
          <p:nvPr/>
        </p:nvSpPr>
        <p:spPr>
          <a:xfrm>
            <a:off x="7150608" y="296265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STANDBY</a:t>
            </a:r>
            <a:endParaRPr lang="en-US" sz="600" dirty="0"/>
          </a:p>
        </p:txBody>
      </p:sp>
      <p:sp>
        <p:nvSpPr>
          <p:cNvPr id="95" name="Shape 93"/>
          <p:cNvSpPr/>
          <p:nvPr/>
        </p:nvSpPr>
        <p:spPr>
          <a:xfrm>
            <a:off x="6784848" y="3291840"/>
            <a:ext cx="1975104" cy="457200"/>
          </a:xfrm>
          <a:prstGeom prst="rect">
            <a:avLst/>
          </a:prstGeom>
          <a:solidFill>
            <a:srgbClr val="00D4C8">
              <a:alpha val="10000"/>
            </a:srgbClr>
          </a:solidFill>
          <a:ln w="6350">
            <a:solidFill>
              <a:srgbClr val="00D4C8">
                <a:alpha val="35000"/>
              </a:srgbClr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6784848" y="3291840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  <p:sp>
        <p:nvSpPr>
          <p:cNvPr id="97" name="Text 95"/>
          <p:cNvSpPr/>
          <p:nvPr/>
        </p:nvSpPr>
        <p:spPr>
          <a:xfrm>
            <a:off x="7150608" y="331012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NISA Router</a:t>
            </a:r>
            <a:endParaRPr lang="en-US" sz="750" dirty="0"/>
          </a:p>
        </p:txBody>
      </p:sp>
      <p:sp>
        <p:nvSpPr>
          <p:cNvPr id="98" name="Text 96"/>
          <p:cNvSpPr/>
          <p:nvPr/>
        </p:nvSpPr>
        <p:spPr>
          <a:xfrm>
            <a:off x="7150608" y="352958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READY</a:t>
            </a:r>
            <a:endParaRPr lang="en-US" sz="600" dirty="0"/>
          </a:p>
        </p:txBody>
      </p:sp>
      <p:sp>
        <p:nvSpPr>
          <p:cNvPr id="99" name="Shape 9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0" y="4864608"/>
            <a:ext cx="9144000" cy="18288"/>
          </a:xfrm>
          <a:prstGeom prst="rect">
            <a:avLst/>
          </a:prstGeom>
          <a:solidFill>
            <a:srgbClr val="00D4C8">
              <a:alpha val="60000"/>
            </a:srgbClr>
          </a:solidFill>
          <a:ln w="12700">
            <a:solidFill>
              <a:srgbClr val="00D4C8">
                <a:alpha val="60000"/>
              </a:srgbClr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274320" y="48737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NISA AI Agent  ·  Next Intelligent Student Assistant</a:t>
            </a:r>
            <a:endParaRPr lang="en-US" sz="700" dirty="0"/>
          </a:p>
        </p:txBody>
      </p:sp>
      <p:sp>
        <p:nvSpPr>
          <p:cNvPr id="102" name="Text 100"/>
          <p:cNvSpPr/>
          <p:nvPr/>
        </p:nvSpPr>
        <p:spPr>
          <a:xfrm>
            <a:off x="7772400" y="487375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nisa.ai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19456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29184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38912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109728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19456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" y="329184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438912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94560" y="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94560" y="109728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94560" y="219456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94560" y="329184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94560" y="438912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91840" y="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91840" y="109728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91840" y="219456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91840" y="329184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91840" y="438912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9120" y="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89120" y="109728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89120" y="219456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89120" y="329184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89120" y="438912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0" y="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0" y="109728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0" y="219456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0" y="329184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0" y="438912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83680" y="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83680" y="109728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83680" y="219456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83680" y="329184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83680" y="438912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680960" y="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680960" y="109728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680960" y="219456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680960" y="329184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80960" y="438912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778240" y="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778240" y="109728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78240" y="219456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778240" y="329184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0" y="438912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ABOUT THE PROJECT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NISA AI Agent?</a:t>
            </a:r>
            <a:endParaRPr lang="en-US" sz="3200" dirty="0"/>
          </a:p>
        </p:txBody>
      </p:sp>
      <p:sp>
        <p:nvSpPr>
          <p:cNvPr id="49" name="Shape 47"/>
          <p:cNvSpPr/>
          <p:nvPr/>
        </p:nvSpPr>
        <p:spPr>
          <a:xfrm>
            <a:off x="457200" y="1280160"/>
            <a:ext cx="5120640" cy="2011680"/>
          </a:xfrm>
          <a:prstGeom prst="rect">
            <a:avLst/>
          </a:prstGeom>
          <a:solidFill>
            <a:srgbClr val="0A1628">
              <a:alpha val="90000"/>
            </a:srgbClr>
          </a:solidFill>
          <a:ln w="10160">
            <a:solidFill>
              <a:srgbClr val="00D4C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57200" y="1280160"/>
            <a:ext cx="41148" cy="2011680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94360" y="1325880"/>
            <a:ext cx="48463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NISA AI Agent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stands for </a:t>
            </a:r>
            <a:pPr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Intelligent Student Assistant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sophisticated AI-powered multi-agent system designed to be a student's personal career and academic productivity companion.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457200" y="3429000"/>
            <a:ext cx="1645920" cy="1097280"/>
          </a:xfrm>
          <a:prstGeom prst="rect">
            <a:avLst/>
          </a:prstGeom>
          <a:solidFill>
            <a:srgbClr val="0F1E35"/>
          </a:solidFill>
          <a:ln w="10160">
            <a:solidFill>
              <a:srgbClr val="00D4C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457200" y="34747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200" dirty="0"/>
          </a:p>
        </p:txBody>
      </p:sp>
      <p:sp>
        <p:nvSpPr>
          <p:cNvPr id="54" name="Text 52"/>
          <p:cNvSpPr/>
          <p:nvPr/>
        </p:nvSpPr>
        <p:spPr>
          <a:xfrm>
            <a:off x="457200" y="4005072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Orchestrated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2286000" y="3429000"/>
            <a:ext cx="1645920" cy="1097280"/>
          </a:xfrm>
          <a:prstGeom prst="rect">
            <a:avLst/>
          </a:prstGeom>
          <a:solidFill>
            <a:srgbClr val="0F1E35"/>
          </a:solidFill>
          <a:ln w="10160">
            <a:solidFill>
              <a:srgbClr val="00D4C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2286000" y="34747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</a:t>
            </a:r>
            <a:endParaRPr lang="en-US" sz="3200" dirty="0"/>
          </a:p>
        </p:txBody>
      </p:sp>
      <p:sp>
        <p:nvSpPr>
          <p:cNvPr id="57" name="Text 55"/>
          <p:cNvSpPr/>
          <p:nvPr/>
        </p:nvSpPr>
        <p:spPr>
          <a:xfrm>
            <a:off x="2286000" y="4005072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Scanned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114800" y="3429000"/>
            <a:ext cx="1645920" cy="1097280"/>
          </a:xfrm>
          <a:prstGeom prst="rect">
            <a:avLst/>
          </a:prstGeom>
          <a:solidFill>
            <a:srgbClr val="0F1E35"/>
          </a:solidFill>
          <a:ln w="10160">
            <a:solidFill>
              <a:srgbClr val="00D4C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4114800" y="34747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200" dirty="0"/>
          </a:p>
        </p:txBody>
      </p:sp>
      <p:sp>
        <p:nvSpPr>
          <p:cNvPr id="60" name="Text 58"/>
          <p:cNvSpPr/>
          <p:nvPr/>
        </p:nvSpPr>
        <p:spPr>
          <a:xfrm>
            <a:off x="4114800" y="4005072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760720" y="1280160"/>
            <a:ext cx="2926080" cy="1371600"/>
          </a:xfrm>
          <a:prstGeom prst="rect">
            <a:avLst/>
          </a:prstGeom>
          <a:solidFill>
            <a:srgbClr val="0F1E35"/>
          </a:solidFill>
          <a:ln w="10160">
            <a:solidFill>
              <a:srgbClr val="00D4C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5943600" y="13258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01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5943600" y="157276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NISA AI Chatbot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5943600" y="18745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AI assistant interface for student queries — career, resume, academic support.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5760720" y="2743200"/>
            <a:ext cx="2926080" cy="1371600"/>
          </a:xfrm>
          <a:prstGeom prst="rect">
            <a:avLst/>
          </a:prstGeom>
          <a:solidFill>
            <a:srgbClr val="0F1E35"/>
          </a:solidFill>
          <a:ln w="10160">
            <a:solidFill>
              <a:srgbClr val="00B8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5943600" y="27889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00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02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5943600" y="303580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Workflow System</a:t>
            </a:r>
            <a:endParaRPr lang="en-US" sz="1400" dirty="0"/>
          </a:p>
        </p:txBody>
      </p:sp>
      <p:sp>
        <p:nvSpPr>
          <p:cNvPr id="68" name="Text 66"/>
          <p:cNvSpPr/>
          <p:nvPr/>
        </p:nvSpPr>
        <p:spPr>
          <a:xfrm>
            <a:off x="5943600" y="33375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orchestration pipeline showing how AI agents collaborate in real time.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0" y="4864608"/>
            <a:ext cx="9144000" cy="18288"/>
          </a:xfrm>
          <a:prstGeom prst="rect">
            <a:avLst/>
          </a:prstGeom>
          <a:solidFill>
            <a:srgbClr val="00D4C8">
              <a:alpha val="60000"/>
            </a:srgbClr>
          </a:solidFill>
          <a:ln w="12700">
            <a:solidFill>
              <a:srgbClr val="00D4C8">
                <a:alpha val="6000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74320" y="48737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NISA AI Agent  ·  Next Intelligent Student Assistant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7772400" y="487375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nisa.ai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19456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29184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38912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109728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19456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" y="329184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438912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94560" y="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94560" y="109728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94560" y="219456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94560" y="329184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94560" y="438912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91840" y="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91840" y="109728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91840" y="219456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91840" y="329184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91840" y="438912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9120" y="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89120" y="109728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89120" y="219456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89120" y="329184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89120" y="438912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0" y="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0" y="109728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0" y="219456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0" y="329184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0" y="438912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83680" y="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83680" y="109728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83680" y="219456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83680" y="329184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83680" y="438912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680960" y="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680960" y="109728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680960" y="219456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680960" y="329184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80960" y="438912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778240" y="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778240" y="109728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78240" y="219456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778240" y="329184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0" y="438912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SYSTEM ARCHITECTURE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NISA AI Agent Works</a:t>
            </a:r>
            <a:endParaRPr lang="en-US" sz="3000" dirty="0"/>
          </a:p>
        </p:txBody>
      </p:sp>
      <p:sp>
        <p:nvSpPr>
          <p:cNvPr id="49" name="Text 47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specialized agents collaborate in a structured pipeline — from profile collection to final delivery.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57200" y="1508760"/>
            <a:ext cx="2697480" cy="1234440"/>
          </a:xfrm>
          <a:prstGeom prst="rect">
            <a:avLst/>
          </a:prstGeom>
          <a:solidFill>
            <a:srgbClr val="0F1E35"/>
          </a:solidFill>
          <a:ln w="10160">
            <a:solidFill>
              <a:srgbClr val="00D4C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57200" y="1508760"/>
            <a:ext cx="411480" cy="274320"/>
          </a:xfrm>
          <a:prstGeom prst="rect">
            <a:avLst/>
          </a:prstGeom>
          <a:solidFill>
            <a:srgbClr val="00D4C8">
              <a:alpha val="28000"/>
            </a:srgbClr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0" y="15087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566928" y="182880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Collection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66928" y="216712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student background, skills &amp; goals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172968" y="2125980"/>
            <a:ext cx="146304" cy="0"/>
          </a:xfrm>
          <a:prstGeom prst="line">
            <a:avLst/>
          </a:prstGeom>
          <a:noFill/>
          <a:ln w="15240">
            <a:solidFill>
              <a:srgbClr val="00D4C8">
                <a:alpha val="70000"/>
              </a:srgbClr>
            </a:solidFill>
            <a:prstDash val="sysDot"/>
          </a:ln>
        </p:spPr>
      </p:sp>
      <p:sp>
        <p:nvSpPr>
          <p:cNvPr id="56" name="Shape 54"/>
          <p:cNvSpPr/>
          <p:nvPr/>
        </p:nvSpPr>
        <p:spPr>
          <a:xfrm>
            <a:off x="3246120" y="1508760"/>
            <a:ext cx="2697480" cy="1234440"/>
          </a:xfrm>
          <a:prstGeom prst="rect">
            <a:avLst/>
          </a:prstGeom>
          <a:solidFill>
            <a:srgbClr val="0F1E35"/>
          </a:solidFill>
          <a:ln w="10160">
            <a:solidFill>
              <a:srgbClr val="00D4C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3246120" y="1508760"/>
            <a:ext cx="411480" cy="274320"/>
          </a:xfrm>
          <a:prstGeom prst="rect">
            <a:avLst/>
          </a:prstGeom>
          <a:solidFill>
            <a:srgbClr val="00D4C8">
              <a:alpha val="28000"/>
            </a:srgbClr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246120" y="15087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3355848" y="182880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Discovery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3355848" y="216712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scan of 500+ sources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5961888" y="2125980"/>
            <a:ext cx="146304" cy="0"/>
          </a:xfrm>
          <a:prstGeom prst="line">
            <a:avLst/>
          </a:prstGeom>
          <a:noFill/>
          <a:ln w="15240">
            <a:solidFill>
              <a:srgbClr val="00D4C8">
                <a:alpha val="70000"/>
              </a:srgbClr>
            </a:solidFill>
            <a:prstDash val="sysDot"/>
          </a:ln>
        </p:spPr>
      </p:sp>
      <p:sp>
        <p:nvSpPr>
          <p:cNvPr id="62" name="Shape 60"/>
          <p:cNvSpPr/>
          <p:nvPr/>
        </p:nvSpPr>
        <p:spPr>
          <a:xfrm>
            <a:off x="6035040" y="1508760"/>
            <a:ext cx="2697480" cy="1234440"/>
          </a:xfrm>
          <a:prstGeom prst="rect">
            <a:avLst/>
          </a:prstGeom>
          <a:solidFill>
            <a:srgbClr val="0F1E35"/>
          </a:solidFill>
          <a:ln w="10160">
            <a:solidFill>
              <a:srgbClr val="00D4C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6035040" y="1508760"/>
            <a:ext cx="411480" cy="274320"/>
          </a:xfrm>
          <a:prstGeom prst="rect">
            <a:avLst/>
          </a:prstGeom>
          <a:solidFill>
            <a:srgbClr val="00D4C8">
              <a:alpha val="28000"/>
            </a:srgbClr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035040" y="15087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6144768" y="182880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Evaluation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6144768" y="216712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Skill-fit scoring &amp; gap analysis loop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457200" y="2880360"/>
            <a:ext cx="2697480" cy="1234440"/>
          </a:xfrm>
          <a:prstGeom prst="rect">
            <a:avLst/>
          </a:prstGeom>
          <a:solidFill>
            <a:srgbClr val="0F1E35"/>
          </a:solidFill>
          <a:ln w="10160">
            <a:solidFill>
              <a:srgbClr val="00D4C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457200" y="2880360"/>
            <a:ext cx="411480" cy="274320"/>
          </a:xfrm>
          <a:prstGeom prst="rect">
            <a:avLst/>
          </a:prstGeom>
          <a:solidFill>
            <a:srgbClr val="00B8FF">
              <a:alpha val="28000"/>
            </a:srgbClr>
          </a:solidFill>
          <a:ln w="12700">
            <a:solidFill>
              <a:srgbClr val="00B8F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57200" y="28803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566928" y="320040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NISA Router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566928" y="353872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task selection &amp; routing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3172968" y="3497580"/>
            <a:ext cx="146304" cy="0"/>
          </a:xfrm>
          <a:prstGeom prst="line">
            <a:avLst/>
          </a:prstGeom>
          <a:noFill/>
          <a:ln w="15240">
            <a:solidFill>
              <a:srgbClr val="00D4C8">
                <a:alpha val="70000"/>
              </a:srgbClr>
            </a:solidFill>
            <a:prstDash val="sysDot"/>
          </a:ln>
        </p:spPr>
      </p:sp>
      <p:sp>
        <p:nvSpPr>
          <p:cNvPr id="73" name="Shape 71"/>
          <p:cNvSpPr/>
          <p:nvPr/>
        </p:nvSpPr>
        <p:spPr>
          <a:xfrm>
            <a:off x="3246120" y="2880360"/>
            <a:ext cx="2697480" cy="1234440"/>
          </a:xfrm>
          <a:prstGeom prst="rect">
            <a:avLst/>
          </a:prstGeom>
          <a:solidFill>
            <a:srgbClr val="0F1E35"/>
          </a:solidFill>
          <a:ln w="10160">
            <a:solidFill>
              <a:srgbClr val="00D4C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3246120" y="2880360"/>
            <a:ext cx="411480" cy="274320"/>
          </a:xfrm>
          <a:prstGeom prst="rect">
            <a:avLst/>
          </a:prstGeom>
          <a:solidFill>
            <a:srgbClr val="00B8FF">
              <a:alpha val="28000"/>
            </a:srgbClr>
          </a:solidFill>
          <a:ln w="12700">
            <a:solidFill>
              <a:srgbClr val="00B8F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246120" y="28803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3355848" y="320040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Generation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3355848" y="353872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Resumes, cover letters &amp; docs created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5961888" y="3497580"/>
            <a:ext cx="146304" cy="0"/>
          </a:xfrm>
          <a:prstGeom prst="line">
            <a:avLst/>
          </a:prstGeom>
          <a:noFill/>
          <a:ln w="15240">
            <a:solidFill>
              <a:srgbClr val="00D4C8">
                <a:alpha val="70000"/>
              </a:srgbClr>
            </a:solidFill>
            <a:prstDash val="sysDot"/>
          </a:ln>
        </p:spPr>
      </p:sp>
      <p:sp>
        <p:nvSpPr>
          <p:cNvPr id="79" name="Shape 77"/>
          <p:cNvSpPr/>
          <p:nvPr/>
        </p:nvSpPr>
        <p:spPr>
          <a:xfrm>
            <a:off x="6035040" y="2880360"/>
            <a:ext cx="2697480" cy="1234440"/>
          </a:xfrm>
          <a:prstGeom prst="rect">
            <a:avLst/>
          </a:prstGeom>
          <a:solidFill>
            <a:srgbClr val="0F1E35"/>
          </a:solidFill>
          <a:ln w="10160">
            <a:solidFill>
              <a:srgbClr val="00D4C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80" name="Shape 78"/>
          <p:cNvSpPr/>
          <p:nvPr/>
        </p:nvSpPr>
        <p:spPr>
          <a:xfrm>
            <a:off x="6035040" y="2880360"/>
            <a:ext cx="411480" cy="274320"/>
          </a:xfrm>
          <a:prstGeom prst="rect">
            <a:avLst/>
          </a:prstGeom>
          <a:solidFill>
            <a:srgbClr val="00B8FF">
              <a:alpha val="28000"/>
            </a:srgbClr>
          </a:solidFill>
          <a:ln w="12700">
            <a:solidFill>
              <a:srgbClr val="00B8F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035040" y="28803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750" dirty="0"/>
          </a:p>
        </p:txBody>
      </p:sp>
      <p:sp>
        <p:nvSpPr>
          <p:cNvPr id="82" name="Text 80"/>
          <p:cNvSpPr/>
          <p:nvPr/>
        </p:nvSpPr>
        <p:spPr>
          <a:xfrm>
            <a:off x="6144768" y="320040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&amp; Notify</a:t>
            </a:r>
            <a:endParaRPr lang="en-US" sz="1200" dirty="0"/>
          </a:p>
        </p:txBody>
      </p:sp>
      <p:sp>
        <p:nvSpPr>
          <p:cNvPr id="83" name="Text 81"/>
          <p:cNvSpPr/>
          <p:nvPr/>
        </p:nvSpPr>
        <p:spPr>
          <a:xfrm>
            <a:off x="6144768" y="3538728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 compiled &amp; delivered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457200" y="4572000"/>
            <a:ext cx="8229600" cy="0"/>
          </a:xfrm>
          <a:prstGeom prst="line">
            <a:avLst/>
          </a:prstGeom>
          <a:noFill/>
          <a:ln w="7620">
            <a:solidFill>
              <a:srgbClr val="00D4C8">
                <a:alpha val="35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0" y="4864608"/>
            <a:ext cx="9144000" cy="18288"/>
          </a:xfrm>
          <a:prstGeom prst="rect">
            <a:avLst/>
          </a:prstGeom>
          <a:solidFill>
            <a:srgbClr val="00D4C8">
              <a:alpha val="60000"/>
            </a:srgbClr>
          </a:solidFill>
          <a:ln w="12700">
            <a:solidFill>
              <a:srgbClr val="00D4C8">
                <a:alpha val="60000"/>
              </a:srgbClr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274320" y="48737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NISA AI Agent  ·  Next Intelligent Student Assistant</a:t>
            </a:r>
            <a:endParaRPr lang="en-US" sz="700" dirty="0"/>
          </a:p>
        </p:txBody>
      </p:sp>
      <p:sp>
        <p:nvSpPr>
          <p:cNvPr id="88" name="Text 86"/>
          <p:cNvSpPr/>
          <p:nvPr/>
        </p:nvSpPr>
        <p:spPr>
          <a:xfrm>
            <a:off x="7772400" y="487375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nisa.ai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19456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29184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38912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109728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19456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" y="329184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438912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94560" y="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94560" y="109728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94560" y="219456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94560" y="329184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94560" y="438912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91840" y="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91840" y="109728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91840" y="219456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91840" y="329184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91840" y="438912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9120" y="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89120" y="109728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89120" y="219456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89120" y="329184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89120" y="438912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0" y="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0" y="109728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0" y="219456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0" y="329184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0" y="438912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83680" y="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83680" y="109728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83680" y="219456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83680" y="329184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83680" y="438912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680960" y="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680960" y="109728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680960" y="219456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680960" y="329184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80960" y="438912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778240" y="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778240" y="109728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78240" y="219456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778240" y="329184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0" y="438912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CAPABILITIES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NISA Can Do For You</a:t>
            </a:r>
            <a:endParaRPr lang="en-US" sz="3000" dirty="0"/>
          </a:p>
        </p:txBody>
      </p:sp>
      <p:sp>
        <p:nvSpPr>
          <p:cNvPr id="49" name="Shape 47"/>
          <p:cNvSpPr/>
          <p:nvPr/>
        </p:nvSpPr>
        <p:spPr>
          <a:xfrm>
            <a:off x="347472" y="1371600"/>
            <a:ext cx="2011680" cy="960120"/>
          </a:xfrm>
          <a:prstGeom prst="rect">
            <a:avLst/>
          </a:prstGeom>
          <a:solidFill>
            <a:srgbClr val="0A1628">
              <a:alpha val="80000"/>
            </a:srgbClr>
          </a:solidFill>
          <a:ln w="10160">
            <a:solidFill>
              <a:srgbClr val="00D4C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347472" y="1371600"/>
            <a:ext cx="41148" cy="960120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38912" y="1481328"/>
            <a:ext cx="347472" cy="292608"/>
          </a:xfrm>
          <a:prstGeom prst="rect">
            <a:avLst/>
          </a:prstGeom>
          <a:solidFill>
            <a:srgbClr val="00D4C8">
              <a:alpha val="25000"/>
            </a:srgbClr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38912" y="1481328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850392" y="1481328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Discovery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38912" y="1847088"/>
            <a:ext cx="1847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Internships, jobs, hackathons, scholarships &amp; courses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2432304" y="1371600"/>
            <a:ext cx="2011680" cy="960120"/>
          </a:xfrm>
          <a:prstGeom prst="rect">
            <a:avLst/>
          </a:prstGeom>
          <a:solidFill>
            <a:srgbClr val="0A1628">
              <a:alpha val="80000"/>
            </a:srgbClr>
          </a:solidFill>
          <a:ln w="10160">
            <a:solidFill>
              <a:srgbClr val="00D4C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2432304" y="1371600"/>
            <a:ext cx="41148" cy="960120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523744" y="1481328"/>
            <a:ext cx="347472" cy="292608"/>
          </a:xfrm>
          <a:prstGeom prst="rect">
            <a:avLst/>
          </a:prstGeom>
          <a:solidFill>
            <a:srgbClr val="00D4C8">
              <a:alpha val="25000"/>
            </a:srgbClr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523744" y="1481328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2935224" y="1481328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Match Scoring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2523744" y="1847088"/>
            <a:ext cx="1847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 score for each opportunity vs. your profile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4517136" y="1371600"/>
            <a:ext cx="2011680" cy="960120"/>
          </a:xfrm>
          <a:prstGeom prst="rect">
            <a:avLst/>
          </a:prstGeom>
          <a:solidFill>
            <a:srgbClr val="0A1628">
              <a:alpha val="80000"/>
            </a:srgbClr>
          </a:solidFill>
          <a:ln w="10160">
            <a:solidFill>
              <a:srgbClr val="00B8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4517136" y="1371600"/>
            <a:ext cx="41148" cy="960120"/>
          </a:xfrm>
          <a:prstGeom prst="rect">
            <a:avLst/>
          </a:prstGeom>
          <a:solidFill>
            <a:srgbClr val="00B8FF"/>
          </a:solidFill>
          <a:ln w="12700">
            <a:solidFill>
              <a:srgbClr val="00B8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608576" y="1481328"/>
            <a:ext cx="347472" cy="292608"/>
          </a:xfrm>
          <a:prstGeom prst="rect">
            <a:avLst/>
          </a:prstGeom>
          <a:solidFill>
            <a:srgbClr val="00B8FF">
              <a:alpha val="25000"/>
            </a:srgbClr>
          </a:solidFill>
          <a:ln w="12700">
            <a:solidFill>
              <a:srgbClr val="00B8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608576" y="1481328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5020056" y="1481328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Gap Analysis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4608576" y="1847088"/>
            <a:ext cx="1847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skills identified + resources recommended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6601968" y="1371600"/>
            <a:ext cx="2011680" cy="960120"/>
          </a:xfrm>
          <a:prstGeom prst="rect">
            <a:avLst/>
          </a:prstGeom>
          <a:solidFill>
            <a:srgbClr val="0A1628">
              <a:alpha val="80000"/>
            </a:srgbClr>
          </a:solidFill>
          <a:ln w="10160">
            <a:solidFill>
              <a:srgbClr val="00B8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6601968" y="1371600"/>
            <a:ext cx="41148" cy="960120"/>
          </a:xfrm>
          <a:prstGeom prst="rect">
            <a:avLst/>
          </a:prstGeom>
          <a:solidFill>
            <a:srgbClr val="00B8FF"/>
          </a:solidFill>
          <a:ln w="12700">
            <a:solidFill>
              <a:srgbClr val="00B8F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693408" y="1481328"/>
            <a:ext cx="347472" cy="292608"/>
          </a:xfrm>
          <a:prstGeom prst="rect">
            <a:avLst/>
          </a:prstGeom>
          <a:solidFill>
            <a:srgbClr val="00B8FF">
              <a:alpha val="25000"/>
            </a:srgbClr>
          </a:solidFill>
          <a:ln w="12700">
            <a:solidFill>
              <a:srgbClr val="00B8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693408" y="1481328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7104888" y="1481328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Generation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6693408" y="1847088"/>
            <a:ext cx="1847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Personalized, role-specific resumes on demand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347472" y="2441448"/>
            <a:ext cx="2011680" cy="960120"/>
          </a:xfrm>
          <a:prstGeom prst="rect">
            <a:avLst/>
          </a:prstGeom>
          <a:solidFill>
            <a:srgbClr val="0A1628">
              <a:alpha val="80000"/>
            </a:srgbClr>
          </a:solidFill>
          <a:ln w="10160">
            <a:solidFill>
              <a:srgbClr val="00D4C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347472" y="2441448"/>
            <a:ext cx="41148" cy="960120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38912" y="2551176"/>
            <a:ext cx="347472" cy="292608"/>
          </a:xfrm>
          <a:prstGeom prst="rect">
            <a:avLst/>
          </a:prstGeom>
          <a:solidFill>
            <a:srgbClr val="00D4C8">
              <a:alpha val="25000"/>
            </a:srgbClr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38912" y="2551176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850392" y="2551176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Letters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438912" y="2916936"/>
            <a:ext cx="1847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 cover letters for every application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2432304" y="2441448"/>
            <a:ext cx="2011680" cy="960120"/>
          </a:xfrm>
          <a:prstGeom prst="rect">
            <a:avLst/>
          </a:prstGeom>
          <a:solidFill>
            <a:srgbClr val="0A1628">
              <a:alpha val="80000"/>
            </a:srgbClr>
          </a:solidFill>
          <a:ln w="10160">
            <a:solidFill>
              <a:srgbClr val="00D4C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80" name="Shape 78"/>
          <p:cNvSpPr/>
          <p:nvPr/>
        </p:nvSpPr>
        <p:spPr>
          <a:xfrm>
            <a:off x="2432304" y="2441448"/>
            <a:ext cx="41148" cy="960120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523744" y="2551176"/>
            <a:ext cx="347472" cy="292608"/>
          </a:xfrm>
          <a:prstGeom prst="rect">
            <a:avLst/>
          </a:prstGeom>
          <a:solidFill>
            <a:srgbClr val="00D4C8">
              <a:alpha val="25000"/>
            </a:srgbClr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523744" y="2551176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2935224" y="2551176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Docs &amp; Slides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2523744" y="2916936"/>
            <a:ext cx="1847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 documentation &amp; presentations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4517136" y="2441448"/>
            <a:ext cx="2011680" cy="960120"/>
          </a:xfrm>
          <a:prstGeom prst="rect">
            <a:avLst/>
          </a:prstGeom>
          <a:solidFill>
            <a:srgbClr val="0A1628">
              <a:alpha val="80000"/>
            </a:srgbClr>
          </a:solidFill>
          <a:ln w="10160">
            <a:solidFill>
              <a:srgbClr val="00B8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86" name="Shape 84"/>
          <p:cNvSpPr/>
          <p:nvPr/>
        </p:nvSpPr>
        <p:spPr>
          <a:xfrm>
            <a:off x="4517136" y="2441448"/>
            <a:ext cx="41148" cy="960120"/>
          </a:xfrm>
          <a:prstGeom prst="rect">
            <a:avLst/>
          </a:prstGeom>
          <a:solidFill>
            <a:srgbClr val="00B8FF"/>
          </a:solidFill>
          <a:ln w="12700">
            <a:solidFill>
              <a:srgbClr val="00B8F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608576" y="2551176"/>
            <a:ext cx="347472" cy="292608"/>
          </a:xfrm>
          <a:prstGeom prst="rect">
            <a:avLst/>
          </a:prstGeom>
          <a:solidFill>
            <a:srgbClr val="00B8FF">
              <a:alpha val="25000"/>
            </a:srgbClr>
          </a:solidFill>
          <a:ln w="12700">
            <a:solidFill>
              <a:srgbClr val="00B8FF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608576" y="2551176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5020056" y="2551176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Summarization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4608576" y="2916936"/>
            <a:ext cx="1847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papers distilled into clear insights</a:t>
            </a:r>
            <a:endParaRPr lang="en-US" sz="750" dirty="0"/>
          </a:p>
        </p:txBody>
      </p:sp>
      <p:sp>
        <p:nvSpPr>
          <p:cNvPr id="91" name="Shape 89"/>
          <p:cNvSpPr/>
          <p:nvPr/>
        </p:nvSpPr>
        <p:spPr>
          <a:xfrm>
            <a:off x="6601968" y="2441448"/>
            <a:ext cx="2011680" cy="960120"/>
          </a:xfrm>
          <a:prstGeom prst="rect">
            <a:avLst/>
          </a:prstGeom>
          <a:solidFill>
            <a:srgbClr val="0A1628">
              <a:alpha val="80000"/>
            </a:srgbClr>
          </a:solidFill>
          <a:ln w="10160">
            <a:solidFill>
              <a:srgbClr val="00B8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92" name="Shape 90"/>
          <p:cNvSpPr/>
          <p:nvPr/>
        </p:nvSpPr>
        <p:spPr>
          <a:xfrm>
            <a:off x="6601968" y="2441448"/>
            <a:ext cx="41148" cy="960120"/>
          </a:xfrm>
          <a:prstGeom prst="rect">
            <a:avLst/>
          </a:prstGeom>
          <a:solidFill>
            <a:srgbClr val="00B8FF"/>
          </a:solidFill>
          <a:ln w="12700">
            <a:solidFill>
              <a:srgbClr val="00B8FF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693408" y="2551176"/>
            <a:ext cx="347472" cy="292608"/>
          </a:xfrm>
          <a:prstGeom prst="rect">
            <a:avLst/>
          </a:prstGeom>
          <a:solidFill>
            <a:srgbClr val="00B8FF">
              <a:alpha val="25000"/>
            </a:srgbClr>
          </a:solidFill>
          <a:ln w="12700">
            <a:solidFill>
              <a:srgbClr val="00B8FF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693408" y="2551176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00" dirty="0"/>
          </a:p>
        </p:txBody>
      </p:sp>
      <p:sp>
        <p:nvSpPr>
          <p:cNvPr id="95" name="Text 93"/>
          <p:cNvSpPr/>
          <p:nvPr/>
        </p:nvSpPr>
        <p:spPr>
          <a:xfrm>
            <a:off x="7104888" y="2551176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Guidance</a:t>
            </a:r>
            <a:endParaRPr lang="en-US" sz="900" dirty="0"/>
          </a:p>
        </p:txBody>
      </p:sp>
      <p:sp>
        <p:nvSpPr>
          <p:cNvPr id="96" name="Text 94"/>
          <p:cNvSpPr/>
          <p:nvPr/>
        </p:nvSpPr>
        <p:spPr>
          <a:xfrm>
            <a:off x="6693408" y="2916936"/>
            <a:ext cx="1847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pathway &amp; industry recommendations</a:t>
            </a:r>
            <a:endParaRPr lang="en-US" sz="750" dirty="0"/>
          </a:p>
        </p:txBody>
      </p:sp>
      <p:sp>
        <p:nvSpPr>
          <p:cNvPr id="97" name="Shape 95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0" y="4864608"/>
            <a:ext cx="9144000" cy="18288"/>
          </a:xfrm>
          <a:prstGeom prst="rect">
            <a:avLst/>
          </a:prstGeom>
          <a:solidFill>
            <a:srgbClr val="00D4C8">
              <a:alpha val="60000"/>
            </a:srgbClr>
          </a:solidFill>
          <a:ln w="12700">
            <a:solidFill>
              <a:srgbClr val="00D4C8">
                <a:alpha val="60000"/>
              </a:srgbClr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274320" y="48737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NISA AI Agent  ·  Next Intelligent Student Assistant</a:t>
            </a:r>
            <a:endParaRPr lang="en-US" sz="700" dirty="0"/>
          </a:p>
        </p:txBody>
      </p:sp>
      <p:sp>
        <p:nvSpPr>
          <p:cNvPr id="100" name="Text 98"/>
          <p:cNvSpPr/>
          <p:nvPr/>
        </p:nvSpPr>
        <p:spPr>
          <a:xfrm>
            <a:off x="7772400" y="487375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nisa.ai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19456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29184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38912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109728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19456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" y="329184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438912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94560" y="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94560" y="109728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94560" y="219456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94560" y="329184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94560" y="438912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91840" y="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91840" y="109728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91840" y="219456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91840" y="329184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91840" y="438912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9120" y="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89120" y="109728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89120" y="219456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89120" y="329184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89120" y="438912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0" y="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0" y="109728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0" y="219456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0" y="329184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0" y="438912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83680" y="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83680" y="109728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83680" y="219456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83680" y="329184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83680" y="438912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680960" y="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680960" y="109728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680960" y="219456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680960" y="329184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80960" y="438912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778240" y="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778240" y="109728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78240" y="219456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778240" y="329184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0" y="438912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LIVE DEMO — CHATBOT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NISA AI Chatbot</a:t>
            </a:r>
            <a:endParaRPr lang="en-US" sz="3000" dirty="0"/>
          </a:p>
        </p:txBody>
      </p:sp>
      <p:sp>
        <p:nvSpPr>
          <p:cNvPr id="49" name="Text 47"/>
          <p:cNvSpPr/>
          <p:nvPr/>
        </p:nvSpPr>
        <p:spPr>
          <a:xfrm>
            <a:off x="457200" y="11887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AI-powered student assistant, always ready to help.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457200" y="1664208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NISA chatbot is your direct interface to the entire multi-agent system. Students can ask anything — from finding internships to improving resumes to summarizing research papers.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57200" y="2487168"/>
            <a:ext cx="45720" cy="201168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1792" y="248716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internships and scholarship opportunities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57200" y="2834640"/>
            <a:ext cx="45720" cy="201168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1792" y="28346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your resume reviewed and improved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57200" y="3182112"/>
            <a:ext cx="45720" cy="201168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21792" y="318211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personalized career recommendations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57200" y="3529584"/>
            <a:ext cx="45720" cy="201168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21792" y="352958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cover letters on demand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57200" y="3877056"/>
            <a:ext cx="45720" cy="201168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21792" y="387705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research papers instantly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57200" y="4224528"/>
            <a:ext cx="45720" cy="201168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21792" y="422452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guidance on learning paths &amp; courses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57200" y="4617720"/>
            <a:ext cx="2194560" cy="292608"/>
          </a:xfrm>
          <a:prstGeom prst="rect">
            <a:avLst/>
          </a:prstGeom>
          <a:solidFill>
            <a:srgbClr val="00D4C8">
              <a:alpha val="85000"/>
            </a:srgbClr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64" name="Text 62">
            <a:hlinkClick r:id="rId1" tooltip=""/>
          </p:cNvPr>
          <p:cNvSpPr/>
          <p:nvPr/>
        </p:nvSpPr>
        <p:spPr>
          <a:xfrm>
            <a:off x="457200" y="4617720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u="sng" dirty="0">
                <a:solidFill>
                  <a:srgbClr val="04060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→  Open NISA Chatbot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5577840" y="1097280"/>
            <a:ext cx="3200400" cy="3611880"/>
          </a:xfrm>
          <a:prstGeom prst="rect">
            <a:avLst/>
          </a:prstGeom>
          <a:solidFill>
            <a:srgbClr val="0F1E35"/>
          </a:solidFill>
          <a:ln w="10160">
            <a:solidFill>
              <a:srgbClr val="00D4C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5577840" y="1097280"/>
            <a:ext cx="3200400" cy="347472"/>
          </a:xfrm>
          <a:prstGeom prst="rect">
            <a:avLst/>
          </a:prstGeom>
          <a:solidFill>
            <a:srgbClr val="0A1628"/>
          </a:solidFill>
          <a:ln w="7620">
            <a:solidFill>
              <a:srgbClr val="00D4C8">
                <a:alpha val="40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669280" y="1216152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870448" y="1216152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071616" y="1216152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172200" y="116128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NISA AI Agent  •  Active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6309360" y="1572768"/>
            <a:ext cx="2377440" cy="384048"/>
          </a:xfrm>
          <a:prstGeom prst="rect">
            <a:avLst/>
          </a:prstGeom>
          <a:solidFill>
            <a:srgbClr val="00D4C8">
              <a:alpha val="30000"/>
            </a:srgbClr>
          </a:solidFill>
          <a:ln w="6350">
            <a:solidFill>
              <a:srgbClr val="00D4C8">
                <a:alpha val="4000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400800" y="1609344"/>
            <a:ext cx="22128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68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me software internships matching my Python skills</a:t>
            </a:r>
            <a:endParaRPr lang="en-US" sz="680" dirty="0"/>
          </a:p>
        </p:txBody>
      </p:sp>
      <p:sp>
        <p:nvSpPr>
          <p:cNvPr id="73" name="Shape 71"/>
          <p:cNvSpPr/>
          <p:nvPr/>
        </p:nvSpPr>
        <p:spPr>
          <a:xfrm>
            <a:off x="5669280" y="2048256"/>
            <a:ext cx="2377440" cy="384048"/>
          </a:xfrm>
          <a:prstGeom prst="rect">
            <a:avLst/>
          </a:prstGeom>
          <a:solidFill>
            <a:srgbClr val="0A1628">
              <a:alpha val="80000"/>
            </a:srgbClr>
          </a:solidFill>
          <a:ln w="6350">
            <a:solidFill>
              <a:srgbClr val="00B8FF">
                <a:alpha val="40000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760720" y="2084832"/>
            <a:ext cx="22128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68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12 matches! Top pick: Google SWE Intern — 94% skill match. Missing: Docker (free course linked)</a:t>
            </a:r>
            <a:endParaRPr lang="en-US" sz="680" dirty="0"/>
          </a:p>
        </p:txBody>
      </p:sp>
      <p:sp>
        <p:nvSpPr>
          <p:cNvPr id="75" name="Shape 73"/>
          <p:cNvSpPr/>
          <p:nvPr/>
        </p:nvSpPr>
        <p:spPr>
          <a:xfrm>
            <a:off x="6309360" y="2523744"/>
            <a:ext cx="2377440" cy="384048"/>
          </a:xfrm>
          <a:prstGeom prst="rect">
            <a:avLst/>
          </a:prstGeom>
          <a:solidFill>
            <a:srgbClr val="00D4C8">
              <a:alpha val="30000"/>
            </a:srgbClr>
          </a:solidFill>
          <a:ln w="6350">
            <a:solidFill>
              <a:srgbClr val="00D4C8">
                <a:alpha val="40000"/>
              </a:srgbClr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400800" y="2560320"/>
            <a:ext cx="22128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68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resume for the Google internship</a:t>
            </a:r>
            <a:endParaRPr lang="en-US" sz="680" dirty="0"/>
          </a:p>
        </p:txBody>
      </p:sp>
      <p:sp>
        <p:nvSpPr>
          <p:cNvPr id="77" name="Shape 75"/>
          <p:cNvSpPr/>
          <p:nvPr/>
        </p:nvSpPr>
        <p:spPr>
          <a:xfrm>
            <a:off x="5669280" y="2999232"/>
            <a:ext cx="2377440" cy="384048"/>
          </a:xfrm>
          <a:prstGeom prst="rect">
            <a:avLst/>
          </a:prstGeom>
          <a:solidFill>
            <a:srgbClr val="0A1628">
              <a:alpha val="80000"/>
            </a:srgbClr>
          </a:solidFill>
          <a:ln w="6350">
            <a:solidFill>
              <a:srgbClr val="00B8FF">
                <a:alpha val="40000"/>
              </a:srgbClr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760720" y="3035808"/>
            <a:ext cx="22128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68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ready! Tailored to Google's requirements with your Python &amp; ML experience highlighted.</a:t>
            </a:r>
            <a:endParaRPr lang="en-US" sz="680" dirty="0"/>
          </a:p>
        </p:txBody>
      </p:sp>
      <p:sp>
        <p:nvSpPr>
          <p:cNvPr id="79" name="Text 77"/>
          <p:cNvSpPr/>
          <p:nvPr/>
        </p:nvSpPr>
        <p:spPr>
          <a:xfrm>
            <a:off x="5577840" y="466344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chatbot.getmindpal.com/nisa-next-intelligent-student-assistant-2l1</a:t>
            </a:r>
            <a:endParaRPr lang="en-US" sz="600" dirty="0"/>
          </a:p>
        </p:txBody>
      </p:sp>
      <p:sp>
        <p:nvSpPr>
          <p:cNvPr id="80" name="Shape 78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0" y="4864608"/>
            <a:ext cx="9144000" cy="18288"/>
          </a:xfrm>
          <a:prstGeom prst="rect">
            <a:avLst/>
          </a:prstGeom>
          <a:solidFill>
            <a:srgbClr val="00D4C8">
              <a:alpha val="60000"/>
            </a:srgbClr>
          </a:solidFill>
          <a:ln w="12700">
            <a:solidFill>
              <a:srgbClr val="00D4C8">
                <a:alpha val="60000"/>
              </a:srgbClr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74320" y="48737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NISA AI Agent  ·  Next Intelligent Student Assistant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7772400" y="487375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nisa.ai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19456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29184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38912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109728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19456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" y="329184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438912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94560" y="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94560" y="109728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94560" y="219456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94560" y="329184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94560" y="438912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91840" y="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91840" y="109728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91840" y="219456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91840" y="329184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91840" y="438912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9120" y="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89120" y="109728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89120" y="219456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89120" y="329184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89120" y="438912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0" y="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0" y="109728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0" y="219456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0" y="329184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0" y="438912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83680" y="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83680" y="109728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83680" y="219456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83680" y="329184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83680" y="438912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680960" y="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680960" y="109728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680960" y="219456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680960" y="329184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80960" y="438912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778240" y="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778240" y="109728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78240" y="219456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778240" y="329184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0" y="438912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MULTI-AGENT WORKFLOW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Architecture</a:t>
            </a:r>
            <a:endParaRPr lang="en-US" sz="3000" dirty="0"/>
          </a:p>
        </p:txBody>
      </p:sp>
      <p:sp>
        <p:nvSpPr>
          <p:cNvPr id="49" name="Text 47"/>
          <p:cNvSpPr/>
          <p:nvPr/>
        </p:nvSpPr>
        <p:spPr>
          <a:xfrm>
            <a:off x="457200" y="10789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specialized agents orchestrated by the NISA Router — each handling a distinct part of the pipeline.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474720" y="2103120"/>
            <a:ext cx="2194560" cy="1005840"/>
          </a:xfrm>
          <a:prstGeom prst="ellipse">
            <a:avLst/>
          </a:prstGeom>
          <a:solidFill>
            <a:srgbClr val="00D4C8">
              <a:alpha val="22000"/>
            </a:srgbClr>
          </a:solidFill>
          <a:ln w="19050">
            <a:solidFill>
              <a:srgbClr val="00D4C8">
                <a:alpha val="8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474720" y="210312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NISA ROUTER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57200" y="1417320"/>
            <a:ext cx="1783080" cy="777240"/>
          </a:xfrm>
          <a:prstGeom prst="rect">
            <a:avLst/>
          </a:prstGeom>
          <a:solidFill>
            <a:srgbClr val="0F1E35"/>
          </a:solidFill>
          <a:ln w="12700">
            <a:solidFill>
              <a:srgbClr val="00D4C8">
                <a:alpha val="60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" y="141732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1348740" y="1805940"/>
            <a:ext cx="3223260" cy="800100"/>
          </a:xfrm>
          <a:prstGeom prst="line">
            <a:avLst/>
          </a:prstGeom>
          <a:noFill/>
          <a:ln w="10160">
            <a:solidFill>
              <a:srgbClr val="00D4C8">
                <a:alpha val="40000"/>
              </a:srgbClr>
            </a:solidFill>
            <a:prstDash val="sysDot"/>
          </a:ln>
        </p:spPr>
      </p:sp>
      <p:sp>
        <p:nvSpPr>
          <p:cNvPr id="55" name="Shape 53"/>
          <p:cNvSpPr/>
          <p:nvPr/>
        </p:nvSpPr>
        <p:spPr>
          <a:xfrm>
            <a:off x="457200" y="2971800"/>
            <a:ext cx="1783080" cy="777240"/>
          </a:xfrm>
          <a:prstGeom prst="rect">
            <a:avLst/>
          </a:prstGeom>
          <a:solidFill>
            <a:srgbClr val="0F1E35"/>
          </a:solidFill>
          <a:ln w="12700">
            <a:solidFill>
              <a:srgbClr val="00D4C8">
                <a:alpha val="60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" y="297180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1348740" y="2606040"/>
            <a:ext cx="3223260" cy="754380"/>
          </a:xfrm>
          <a:prstGeom prst="line">
            <a:avLst/>
          </a:prstGeom>
          <a:noFill/>
          <a:ln w="10160">
            <a:solidFill>
              <a:srgbClr val="00D4C8">
                <a:alpha val="40000"/>
              </a:srgbClr>
            </a:solidFill>
            <a:prstDash val="sysDot"/>
          </a:ln>
        </p:spPr>
      </p:sp>
      <p:sp>
        <p:nvSpPr>
          <p:cNvPr id="58" name="Shape 56"/>
          <p:cNvSpPr/>
          <p:nvPr/>
        </p:nvSpPr>
        <p:spPr>
          <a:xfrm>
            <a:off x="2103120" y="3886200"/>
            <a:ext cx="1783080" cy="777240"/>
          </a:xfrm>
          <a:prstGeom prst="rect">
            <a:avLst/>
          </a:prstGeom>
          <a:solidFill>
            <a:srgbClr val="0F1E35"/>
          </a:solidFill>
          <a:ln w="12700">
            <a:solidFill>
              <a:srgbClr val="00B8FF">
                <a:alpha val="60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103120" y="388620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0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2994660" y="2606040"/>
            <a:ext cx="1577340" cy="1668780"/>
          </a:xfrm>
          <a:prstGeom prst="line">
            <a:avLst/>
          </a:prstGeom>
          <a:noFill/>
          <a:ln w="10160">
            <a:solidFill>
              <a:srgbClr val="00B8FF">
                <a:alpha val="40000"/>
              </a:srgbClr>
            </a:solidFill>
            <a:prstDash val="sysDot"/>
          </a:ln>
        </p:spPr>
      </p:sp>
      <p:sp>
        <p:nvSpPr>
          <p:cNvPr id="61" name="Shape 59"/>
          <p:cNvSpPr/>
          <p:nvPr/>
        </p:nvSpPr>
        <p:spPr>
          <a:xfrm>
            <a:off x="6583680" y="1417320"/>
            <a:ext cx="1783080" cy="777240"/>
          </a:xfrm>
          <a:prstGeom prst="rect">
            <a:avLst/>
          </a:prstGeom>
          <a:solidFill>
            <a:srgbClr val="0F1E35"/>
          </a:solidFill>
          <a:ln w="12700">
            <a:solidFill>
              <a:srgbClr val="00B8FF">
                <a:alpha val="60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583680" y="141732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0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4572000" y="1805940"/>
            <a:ext cx="2903220" cy="800100"/>
          </a:xfrm>
          <a:prstGeom prst="line">
            <a:avLst/>
          </a:prstGeom>
          <a:noFill/>
          <a:ln w="10160">
            <a:solidFill>
              <a:srgbClr val="00B8FF">
                <a:alpha val="40000"/>
              </a:srgbClr>
            </a:solidFill>
            <a:prstDash val="sysDot"/>
          </a:ln>
        </p:spPr>
      </p:sp>
      <p:sp>
        <p:nvSpPr>
          <p:cNvPr id="64" name="Shape 62"/>
          <p:cNvSpPr/>
          <p:nvPr/>
        </p:nvSpPr>
        <p:spPr>
          <a:xfrm>
            <a:off x="6583680" y="2971800"/>
            <a:ext cx="1783080" cy="777240"/>
          </a:xfrm>
          <a:prstGeom prst="rect">
            <a:avLst/>
          </a:prstGeom>
          <a:solidFill>
            <a:srgbClr val="0F1E35"/>
          </a:solidFill>
          <a:ln w="12700">
            <a:solidFill>
              <a:srgbClr val="00B8FF">
                <a:alpha val="6000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583680" y="297180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0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Summarizer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4572000" y="2606040"/>
            <a:ext cx="2903220" cy="754380"/>
          </a:xfrm>
          <a:prstGeom prst="line">
            <a:avLst/>
          </a:prstGeom>
          <a:noFill/>
          <a:ln w="10160">
            <a:solidFill>
              <a:srgbClr val="00B8FF">
                <a:alpha val="40000"/>
              </a:srgbClr>
            </a:solidFill>
            <a:prstDash val="sysDot"/>
          </a:ln>
        </p:spPr>
      </p:sp>
      <p:sp>
        <p:nvSpPr>
          <p:cNvPr id="67" name="Shape 65"/>
          <p:cNvSpPr/>
          <p:nvPr/>
        </p:nvSpPr>
        <p:spPr>
          <a:xfrm>
            <a:off x="4846320" y="3886200"/>
            <a:ext cx="1783080" cy="777240"/>
          </a:xfrm>
          <a:prstGeom prst="rect">
            <a:avLst/>
          </a:prstGeom>
          <a:solidFill>
            <a:srgbClr val="0F1E35"/>
          </a:solidFill>
          <a:ln w="12700">
            <a:solidFill>
              <a:srgbClr val="F5C842">
                <a:alpha val="6000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846320" y="388620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&amp;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4572000" y="2606040"/>
            <a:ext cx="1165860" cy="1668780"/>
          </a:xfrm>
          <a:prstGeom prst="line">
            <a:avLst/>
          </a:prstGeom>
          <a:noFill/>
          <a:ln w="10160">
            <a:solidFill>
              <a:srgbClr val="F5C842">
                <a:alpha val="40000"/>
              </a:srgbClr>
            </a:solidFill>
            <a:prstDash val="sysDot"/>
          </a:ln>
        </p:spPr>
      </p:sp>
      <p:sp>
        <p:nvSpPr>
          <p:cNvPr id="70" name="Shape 68"/>
          <p:cNvSpPr/>
          <p:nvPr/>
        </p:nvSpPr>
        <p:spPr>
          <a:xfrm>
            <a:off x="3200400" y="4462272"/>
            <a:ext cx="2743200" cy="274320"/>
          </a:xfrm>
          <a:prstGeom prst="rect">
            <a:avLst/>
          </a:prstGeom>
          <a:solidFill>
            <a:srgbClr val="00B8FF">
              <a:alpha val="18000"/>
            </a:srgbClr>
          </a:solidFill>
          <a:ln w="10160">
            <a:solidFill>
              <a:srgbClr val="00B8FF">
                <a:alpha val="50000"/>
              </a:srgbClr>
            </a:solidFill>
            <a:prstDash val="solid"/>
          </a:ln>
        </p:spPr>
      </p:sp>
      <p:sp>
        <p:nvSpPr>
          <p:cNvPr id="71" name="Text 69">
            <a:hlinkClick r:id="rId1" tooltip=""/>
          </p:cNvPr>
          <p:cNvSpPr/>
          <p:nvPr/>
        </p:nvSpPr>
        <p:spPr>
          <a:xfrm>
            <a:off x="3200400" y="44622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u="sng" dirty="0">
                <a:solidFill>
                  <a:srgbClr val="00B8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→  View Interactive Workflow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0" y="4864608"/>
            <a:ext cx="9144000" cy="18288"/>
          </a:xfrm>
          <a:prstGeom prst="rect">
            <a:avLst/>
          </a:prstGeom>
          <a:solidFill>
            <a:srgbClr val="00D4C8">
              <a:alpha val="60000"/>
            </a:srgbClr>
          </a:solidFill>
          <a:ln w="12700">
            <a:solidFill>
              <a:srgbClr val="00D4C8">
                <a:alpha val="60000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74320" y="48737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NISA AI Agent  ·  Next Intelligent Student Assistant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7772400" y="487375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nisa.ai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19456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29184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38912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109728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19456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" y="329184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438912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94560" y="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94560" y="109728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94560" y="219456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94560" y="329184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94560" y="438912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91840" y="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91840" y="109728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91840" y="219456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91840" y="329184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91840" y="438912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9120" y="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89120" y="109728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89120" y="219456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89120" y="329184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89120" y="438912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0" y="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0" y="109728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0" y="219456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0" y="329184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0" y="438912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83680" y="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83680" y="109728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83680" y="219456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83680" y="329184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83680" y="438912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680960" y="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680960" y="109728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680960" y="219456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680960" y="329184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80960" y="438912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778240" y="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778240" y="109728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78240" y="219456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778240" y="329184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0" y="4389120"/>
            <a:ext cx="36576" cy="36576"/>
          </a:xfrm>
          <a:prstGeom prst="ellipse">
            <a:avLst/>
          </a:prstGeom>
          <a:solidFill>
            <a:srgbClr val="00D4C8">
              <a:alpha val="18000"/>
            </a:srgbClr>
          </a:solidFill>
          <a:ln w="12700">
            <a:solidFill>
              <a:srgbClr val="00D4C8">
                <a:alpha val="18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320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TECHNOLOGY STACK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Cutting-Edge AI</a:t>
            </a:r>
            <a:endParaRPr lang="en-US" sz="3000" dirty="0"/>
          </a:p>
        </p:txBody>
      </p:sp>
      <p:sp>
        <p:nvSpPr>
          <p:cNvPr id="49" name="Shape 47"/>
          <p:cNvSpPr/>
          <p:nvPr/>
        </p:nvSpPr>
        <p:spPr>
          <a:xfrm>
            <a:off x="457200" y="1325880"/>
            <a:ext cx="8229600" cy="749808"/>
          </a:xfrm>
          <a:prstGeom prst="rect">
            <a:avLst/>
          </a:prstGeom>
          <a:solidFill>
            <a:srgbClr val="0F1E35"/>
          </a:solidFill>
          <a:ln w="10160">
            <a:solidFill>
              <a:srgbClr val="00D4C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57200" y="1325880"/>
            <a:ext cx="41148" cy="749808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02920" y="1325880"/>
            <a:ext cx="502920" cy="292608"/>
          </a:xfrm>
          <a:prstGeom prst="rect">
            <a:avLst/>
          </a:prstGeom>
          <a:solidFill>
            <a:srgbClr val="00D4C8">
              <a:alpha val="20000"/>
            </a:srgbClr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02920" y="13258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1097280" y="139903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MindPal AI Platform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3657600" y="1417320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workflow engine that powers NISA's orchestration, task routing, and agent communication pipeline.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57200" y="2176272"/>
            <a:ext cx="8229600" cy="749808"/>
          </a:xfrm>
          <a:prstGeom prst="rect">
            <a:avLst/>
          </a:prstGeom>
          <a:solidFill>
            <a:srgbClr val="0F1E35"/>
          </a:solidFill>
          <a:ln w="10160">
            <a:solidFill>
              <a:srgbClr val="00B8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457200" y="2176272"/>
            <a:ext cx="41148" cy="749808"/>
          </a:xfrm>
          <a:prstGeom prst="rect">
            <a:avLst/>
          </a:prstGeom>
          <a:solidFill>
            <a:srgbClr val="00B8FF"/>
          </a:solidFill>
          <a:ln w="12700">
            <a:solidFill>
              <a:srgbClr val="00B8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02920" y="2176272"/>
            <a:ext cx="502920" cy="292608"/>
          </a:xfrm>
          <a:prstGeom prst="rect">
            <a:avLst/>
          </a:prstGeom>
          <a:solidFill>
            <a:srgbClr val="00B8FF">
              <a:alpha val="20000"/>
            </a:srgbClr>
          </a:solidFill>
          <a:ln w="12700">
            <a:solidFill>
              <a:srgbClr val="00B8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02920" y="217627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1097280" y="224942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Orchestration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3657600" y="2267712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large language models coordinated by the NISA Router — each specialized for different tasks (matching, generation, summarization).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57200" y="3026664"/>
            <a:ext cx="8229600" cy="749808"/>
          </a:xfrm>
          <a:prstGeom prst="rect">
            <a:avLst/>
          </a:prstGeom>
          <a:solidFill>
            <a:srgbClr val="0F1E35"/>
          </a:solidFill>
          <a:ln w="10160">
            <a:solidFill>
              <a:srgbClr val="00D4C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457200" y="3026664"/>
            <a:ext cx="41148" cy="749808"/>
          </a:xfrm>
          <a:prstGeom prst="rect">
            <a:avLst/>
          </a:prstGeom>
          <a:solidFill>
            <a:srgbClr val="00D4C8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02920" y="3026664"/>
            <a:ext cx="502920" cy="292608"/>
          </a:xfrm>
          <a:prstGeom prst="rect">
            <a:avLst/>
          </a:prstGeom>
          <a:solidFill>
            <a:srgbClr val="00D4C8">
              <a:alpha val="20000"/>
            </a:srgbClr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02920" y="3026664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1097280" y="30998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Pipeline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3657600" y="3118104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agent execution with evaluation loops. Agents iterate on results to maximize relevance and accuracy of outputs.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457200" y="3877056"/>
            <a:ext cx="8229600" cy="749808"/>
          </a:xfrm>
          <a:prstGeom prst="rect">
            <a:avLst/>
          </a:prstGeom>
          <a:solidFill>
            <a:srgbClr val="0F1E35"/>
          </a:solidFill>
          <a:ln w="10160">
            <a:solidFill>
              <a:srgbClr val="00B8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457200" y="3877056"/>
            <a:ext cx="41148" cy="749808"/>
          </a:xfrm>
          <a:prstGeom prst="rect">
            <a:avLst/>
          </a:prstGeom>
          <a:solidFill>
            <a:srgbClr val="00B8FF"/>
          </a:solidFill>
          <a:ln w="12700">
            <a:solidFill>
              <a:srgbClr val="00B8F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02920" y="3877056"/>
            <a:ext cx="502920" cy="292608"/>
          </a:xfrm>
          <a:prstGeom prst="rect">
            <a:avLst/>
          </a:prstGeom>
          <a:solidFill>
            <a:srgbClr val="00B8FF">
              <a:alpha val="20000"/>
            </a:srgbClr>
          </a:solidFill>
          <a:ln w="12700">
            <a:solidFill>
              <a:srgbClr val="00B8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02920" y="387705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1097280" y="395020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Intelligence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3657600" y="3968496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 retrieval agents scan job boards, scholarship portals, hackathon platforms, and course marketplaces.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0" y="4864608"/>
            <a:ext cx="9144000" cy="18288"/>
          </a:xfrm>
          <a:prstGeom prst="rect">
            <a:avLst/>
          </a:prstGeom>
          <a:solidFill>
            <a:srgbClr val="00D4C8">
              <a:alpha val="60000"/>
            </a:srgbClr>
          </a:solidFill>
          <a:ln w="12700">
            <a:solidFill>
              <a:srgbClr val="00D4C8">
                <a:alpha val="60000"/>
              </a:srgbClr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74320" y="48737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NISA AI Agent  ·  Next Intelligent Student Assistant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7772400" y="487375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nisa.ai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8288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7432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36576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5720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9144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8288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27432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36576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45720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800" y="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28800" y="9144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28800" y="18288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28800" y="27432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28800" y="36576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28800" y="45720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0" y="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0" y="9144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0" y="18288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0" y="27432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0" y="36576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0" y="45720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0" y="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0" y="9144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0" y="18288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0" y="27432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0" y="36576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0" y="45720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0" y="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0" y="9144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0" y="18288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0" y="27432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0" y="36576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0" y="45720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86400" y="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86400" y="9144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486400" y="18288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486400" y="27432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86400" y="36576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486400" y="45720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00800" y="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00800" y="9144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00800" y="18288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00800" y="27432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400800" y="36576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400800" y="45720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315200" y="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315200" y="9144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315200" y="18288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315200" y="27432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315200" y="36576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315200" y="45720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229600" y="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229600" y="9144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229600" y="18288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229600" y="27432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229600" y="36576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229600" y="4572000"/>
            <a:ext cx="27432" cy="27432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22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14400" y="0"/>
            <a:ext cx="7315200" cy="7315200"/>
          </a:xfrm>
          <a:prstGeom prst="ellipse">
            <a:avLst/>
          </a:prstGeom>
          <a:solidFill>
            <a:srgbClr val="00D4C8">
              <a:alpha val="7000"/>
            </a:srgbClr>
          </a:solidFill>
          <a:ln w="12700">
            <a:solidFill>
              <a:srgbClr val="00D4C8">
                <a:alpha val="7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31520" y="54864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Accelerate</a:t>
            </a:r>
            <a:endParaRPr lang="en-US" sz="3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Student Journey?</a:t>
            </a:r>
            <a:endParaRPr lang="en-US" sz="3800" dirty="0"/>
          </a:p>
        </p:txBody>
      </p:sp>
      <p:sp>
        <p:nvSpPr>
          <p:cNvPr id="64" name="Text 62"/>
          <p:cNvSpPr/>
          <p:nvPr/>
        </p:nvSpPr>
        <p:spPr>
          <a:xfrm>
            <a:off x="1371600" y="224028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NISA AI Agent discover your next opportunity, polish your profile,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automate your academic tasks — starting today.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2011680" y="3108960"/>
            <a:ext cx="2286000" cy="457200"/>
          </a:xfrm>
          <a:prstGeom prst="rect">
            <a:avLst/>
          </a:prstGeom>
          <a:solidFill>
            <a:srgbClr val="00D4C8">
              <a:alpha val="90000"/>
            </a:srgbClr>
          </a:solidFill>
          <a:ln w="15240">
            <a:solidFill>
              <a:srgbClr val="00D4C8"/>
            </a:solidFill>
            <a:prstDash val="solid"/>
          </a:ln>
        </p:spPr>
      </p:sp>
      <p:sp>
        <p:nvSpPr>
          <p:cNvPr id="66" name="Text 64">
            <a:hlinkClick r:id="rId1" tooltip=""/>
          </p:cNvPr>
          <p:cNvSpPr/>
          <p:nvPr/>
        </p:nvSpPr>
        <p:spPr>
          <a:xfrm>
            <a:off x="2011680" y="31089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04060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Launch NISA Chatbot →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4846320" y="3108960"/>
            <a:ext cx="2286000" cy="457200"/>
          </a:xfrm>
          <a:prstGeom prst="rect">
            <a:avLst/>
          </a:prstGeom>
          <a:solidFill>
            <a:srgbClr val="0F1E35"/>
          </a:solidFill>
          <a:ln w="15240">
            <a:solidFill>
              <a:srgbClr val="00B8FF"/>
            </a:solidFill>
            <a:prstDash val="solid"/>
          </a:ln>
        </p:spPr>
      </p:sp>
      <p:sp>
        <p:nvSpPr>
          <p:cNvPr id="68" name="Text 66">
            <a:hlinkClick r:id="rId2" tooltip=""/>
          </p:cNvPr>
          <p:cNvSpPr/>
          <p:nvPr/>
        </p:nvSpPr>
        <p:spPr>
          <a:xfrm>
            <a:off x="4846320" y="31089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00B8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Explore Workflow →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3977640" y="4023360"/>
            <a:ext cx="502920" cy="502920"/>
          </a:xfrm>
          <a:prstGeom prst="rect">
            <a:avLst/>
          </a:prstGeom>
          <a:solidFill>
            <a:srgbClr val="00D4C8">
              <a:alpha val="20000"/>
            </a:srgbClr>
          </a:solidFill>
          <a:ln w="15240">
            <a:solidFill>
              <a:srgbClr val="00D4C8">
                <a:alpha val="7000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977640" y="4005072"/>
            <a:ext cx="5029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F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800" dirty="0"/>
          </a:p>
        </p:txBody>
      </p:sp>
      <p:sp>
        <p:nvSpPr>
          <p:cNvPr id="71" name="Text 69"/>
          <p:cNvSpPr/>
          <p:nvPr/>
        </p:nvSpPr>
        <p:spPr>
          <a:xfrm>
            <a:off x="457200" y="46634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NISA.AI  ·  Next Intelligent Student Assistant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NISA AI Agent — Next Intelligent Student Assistant</dc:title>
  <dc:subject>PptxGenJS Presentation</dc:subject>
  <dc:creator>NISA AI Agent</dc:creator>
  <cp:lastModifiedBy>NISA AI Agent</cp:lastModifiedBy>
  <cp:revision>1</cp:revision>
  <dcterms:created xsi:type="dcterms:W3CDTF">2026-03-12T12:54:23Z</dcterms:created>
  <dcterms:modified xsi:type="dcterms:W3CDTF">2026-03-12T12:54:23Z</dcterms:modified>
</cp:coreProperties>
</file>